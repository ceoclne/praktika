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Algerian" panose="04020705040A02060702" pitchFamily="82" charset="0"/>
      <p:regular r:id="rId14"/>
    </p:embeddedFont>
    <p:embeddedFont>
      <p:font typeface="Book Antiqua" panose="02040602050305030304" pitchFamily="18" charset="0"/>
      <p:regular r:id="rId15"/>
      <p:bold r:id="rId16"/>
      <p:italic r:id="rId17"/>
      <p:boldItalic r:id="rId18"/>
    </p:embeddedFont>
    <p:embeddedFont>
      <p:font typeface="Franklin Gothic Book" panose="020B0503020102020204" pitchFamily="34" charset="0"/>
      <p:regular r:id="rId19"/>
      <p:italic r:id="rId20"/>
    </p:embeddedFont>
    <p:embeddedFont>
      <p:font typeface="Tekton Pro Ext" panose="020F0605020208020904" pitchFamily="34" charset="0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98F5-69AC-2095-D2A2-88120D2FC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55448A-0A9A-4B40-17A9-997132A9E0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36F7-2B1B-F47C-5BC4-4A341E83F02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2ADB254-FD58-B401-968C-34C3271CE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1AF4AD2-D5CA-1ABE-7613-BDED1CE5E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0C74C-D3ED-074B-31D3-5E6BBAA95C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669A2-BBAA-4778-281C-1C84099BB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29770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2693" y="2682681"/>
            <a:ext cx="12541844" cy="3147339"/>
          </a:xfrm>
        </p:spPr>
        <p:txBody>
          <a:bodyPr anchor="b">
            <a:noAutofit/>
          </a:bodyPr>
          <a:lstStyle>
            <a:lvl1pPr algn="ctr">
              <a:defRPr sz="108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19860" y="5934419"/>
            <a:ext cx="10247510" cy="1629356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45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29287" y="9680079"/>
            <a:ext cx="2411916" cy="60692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76082" y="9680079"/>
            <a:ext cx="10535066" cy="606921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746025" y="9680079"/>
            <a:ext cx="2394438" cy="60692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129288" y="1116704"/>
            <a:ext cx="16011176" cy="8024507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BY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BY"/>
            </a:p>
          </p:txBody>
        </p:sp>
      </p:grpSp>
    </p:spTree>
    <p:extLst>
      <p:ext uri="{BB962C8B-B14F-4D97-AF65-F5344CB8AC3E}">
        <p14:creationId xmlns:p14="http://schemas.microsoft.com/office/powerpoint/2010/main" val="41706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3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538" y="1952041"/>
            <a:ext cx="14419457" cy="4279106"/>
          </a:xfrm>
        </p:spPr>
        <p:txBody>
          <a:bodyPr anchor="b">
            <a:normAutofit/>
          </a:bodyPr>
          <a:lstStyle>
            <a:lvl1pPr algn="r">
              <a:defRPr sz="108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7538" y="6324492"/>
            <a:ext cx="14419457" cy="1714986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tx2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08363" y="9680079"/>
            <a:ext cx="2433614" cy="60692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76469" y="9680079"/>
            <a:ext cx="10535066" cy="60692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746025" y="9680079"/>
            <a:ext cx="2394438" cy="60692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12227944" y="2528478"/>
            <a:ext cx="4912520" cy="6612732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72216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57400" y="3428999"/>
            <a:ext cx="6671679" cy="537210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88105" y="3428999"/>
            <a:ext cx="6671679" cy="537210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7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028700"/>
            <a:ext cx="14401800" cy="2228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3511296"/>
            <a:ext cx="6665976" cy="1235868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4500" b="0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57400" y="4957811"/>
            <a:ext cx="6665976" cy="3843290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787521" y="3511296"/>
            <a:ext cx="6665976" cy="1235868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4500" b="0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787521" y="4957811"/>
            <a:ext cx="6665976" cy="3843290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51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5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76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564"/>
            <a:ext cx="7955280" cy="10286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1028700"/>
            <a:ext cx="5783580" cy="3236826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72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4030" y="1028702"/>
            <a:ext cx="7818120" cy="7762875"/>
          </a:xfrm>
        </p:spPr>
        <p:txBody>
          <a:bodyPr/>
          <a:lstStyle>
            <a:lvl1pPr>
              <a:defRPr sz="3000"/>
            </a:lvl1pPr>
            <a:lvl2pPr>
              <a:defRPr sz="3000"/>
            </a:lvl2pPr>
            <a:lvl3pPr>
              <a:defRPr sz="2700"/>
            </a:lvl3pPr>
            <a:lvl4pPr>
              <a:defRPr sz="27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50" y="4284516"/>
            <a:ext cx="5783580" cy="451658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2250"/>
              </a:spcAft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850" y="9680079"/>
            <a:ext cx="1806858" cy="60692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08918" y="9680079"/>
            <a:ext cx="3560513" cy="60692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824710" y="9680079"/>
            <a:ext cx="2394438" cy="60692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7955280" y="564"/>
            <a:ext cx="34290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24848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564"/>
            <a:ext cx="7955280" cy="10286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1028700"/>
            <a:ext cx="5783580" cy="3236826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7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98180" y="1"/>
            <a:ext cx="9989820" cy="10286999"/>
          </a:xfrm>
        </p:spPr>
        <p:txBody>
          <a:bodyPr anchor="t">
            <a:normAutofit/>
          </a:bodyPr>
          <a:lstStyle>
            <a:lvl1pPr marL="0" indent="0">
              <a:buNone/>
              <a:defRPr sz="3000"/>
            </a:lvl1pPr>
            <a:lvl2pPr marL="685800" indent="0">
              <a:buNone/>
              <a:defRPr sz="3000"/>
            </a:lvl2pPr>
            <a:lvl3pPr marL="1371600" indent="0">
              <a:buNone/>
              <a:defRPr sz="30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50" y="4283952"/>
            <a:ext cx="5783580" cy="4517148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2250"/>
              </a:spcAft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850" y="9680079"/>
            <a:ext cx="1806858" cy="60692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08918" y="9680079"/>
            <a:ext cx="3560513" cy="60692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824710" y="9680079"/>
            <a:ext cx="2394438" cy="60692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7955280" y="564"/>
            <a:ext cx="34290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4941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57400" y="3443288"/>
            <a:ext cx="14401800" cy="535781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8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4842" y="936234"/>
            <a:ext cx="2348649" cy="786486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57401" y="936234"/>
            <a:ext cx="12269462" cy="786486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2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3429000"/>
            <a:ext cx="14401800" cy="5372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717143" y="564"/>
            <a:ext cx="34290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3712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1371600" rtl="0" eaLnBrk="1" latinLnBrk="0" hangingPunct="1">
        <a:lnSpc>
          <a:spcPct val="89000"/>
        </a:lnSpc>
        <a:spcBef>
          <a:spcPct val="0"/>
        </a:spcBef>
        <a:buNone/>
        <a:defRPr sz="66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576072" indent="-576072" algn="l" defTabSz="1371600" rtl="0" eaLnBrk="1" latinLnBrk="0" hangingPunct="1">
        <a:lnSpc>
          <a:spcPct val="94000"/>
        </a:lnSpc>
        <a:spcBef>
          <a:spcPts val="1500"/>
        </a:spcBef>
        <a:spcAft>
          <a:spcPts val="300"/>
        </a:spcAft>
        <a:buFont typeface="Franklin Gothic Book" panose="020B0503020102020204" pitchFamily="34" charset="0"/>
        <a:buChar char="■"/>
        <a:defRPr sz="3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71600" indent="-576072" algn="l" defTabSz="1371600" rtl="0" eaLnBrk="1" latinLnBrk="0" hangingPunct="1">
        <a:lnSpc>
          <a:spcPct val="94000"/>
        </a:lnSpc>
        <a:spcBef>
          <a:spcPts val="750"/>
        </a:spcBef>
        <a:spcAft>
          <a:spcPts val="300"/>
        </a:spcAft>
        <a:buFont typeface="Franklin Gothic Book" panose="020B0503020102020204" pitchFamily="34" charset="0"/>
        <a:buChar char="–"/>
        <a:defRPr sz="3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2057400" indent="-576072" algn="l" defTabSz="1371600" rtl="0" eaLnBrk="1" latinLnBrk="0" hangingPunct="1">
        <a:lnSpc>
          <a:spcPct val="94000"/>
        </a:lnSpc>
        <a:spcBef>
          <a:spcPts val="750"/>
        </a:spcBef>
        <a:spcAft>
          <a:spcPts val="300"/>
        </a:spcAft>
        <a:buFont typeface="Franklin Gothic Book" panose="020B0503020102020204" pitchFamily="34" charset="0"/>
        <a:buChar char="■"/>
        <a:defRPr sz="27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2743200" indent="-576072" algn="l" defTabSz="1371600" rtl="0" eaLnBrk="1" latinLnBrk="0" hangingPunct="1">
        <a:lnSpc>
          <a:spcPct val="94000"/>
        </a:lnSpc>
        <a:spcBef>
          <a:spcPts val="750"/>
        </a:spcBef>
        <a:spcAft>
          <a:spcPts val="300"/>
        </a:spcAft>
        <a:buFont typeface="Franklin Gothic Book" panose="020B0503020102020204" pitchFamily="34" charset="0"/>
        <a:buChar char="–"/>
        <a:defRPr sz="27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3429000" indent="-576072" algn="l" defTabSz="1371600" rtl="0" eaLnBrk="1" latinLnBrk="0" hangingPunct="1">
        <a:lnSpc>
          <a:spcPct val="94000"/>
        </a:lnSpc>
        <a:spcBef>
          <a:spcPts val="750"/>
        </a:spcBef>
        <a:spcAft>
          <a:spcPts val="300"/>
        </a:spcAft>
        <a:buFont typeface="Franklin Gothic Book" panose="020B0503020102020204" pitchFamily="34" charset="0"/>
        <a:buChar char="■"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4114800" indent="-576072" algn="l" defTabSz="1371600" rtl="0" eaLnBrk="1" latinLnBrk="0" hangingPunct="1">
        <a:lnSpc>
          <a:spcPct val="94000"/>
        </a:lnSpc>
        <a:spcBef>
          <a:spcPts val="750"/>
        </a:spcBef>
        <a:spcAft>
          <a:spcPts val="300"/>
        </a:spcAft>
        <a:buFont typeface="Franklin Gothic Book" panose="020B0503020102020204" pitchFamily="34" charset="0"/>
        <a:buChar char="–"/>
        <a:defRPr sz="24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4800600" indent="-576072" algn="l" defTabSz="1371600" rtl="0" eaLnBrk="1" latinLnBrk="0" hangingPunct="1">
        <a:lnSpc>
          <a:spcPct val="94000"/>
        </a:lnSpc>
        <a:spcBef>
          <a:spcPts val="750"/>
        </a:spcBef>
        <a:spcAft>
          <a:spcPts val="300"/>
        </a:spcAft>
        <a:buFont typeface="Franklin Gothic Book" panose="020B0503020102020204" pitchFamily="34" charset="0"/>
        <a:buChar char="■"/>
        <a:defRPr sz="21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5486400" indent="-576072" algn="l" defTabSz="1371600" rtl="0" eaLnBrk="1" latinLnBrk="0" hangingPunct="1">
        <a:lnSpc>
          <a:spcPct val="94000"/>
        </a:lnSpc>
        <a:spcBef>
          <a:spcPts val="750"/>
        </a:spcBef>
        <a:spcAft>
          <a:spcPts val="300"/>
        </a:spcAft>
        <a:buFont typeface="Franklin Gothic Book" panose="020B0503020102020204" pitchFamily="34" charset="0"/>
        <a:buChar char="–"/>
        <a:defRPr sz="21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6172200" indent="-576072" algn="l" defTabSz="1371600" rtl="0" eaLnBrk="1" latinLnBrk="0" hangingPunct="1">
        <a:lnSpc>
          <a:spcPct val="94000"/>
        </a:lnSpc>
        <a:spcBef>
          <a:spcPts val="750"/>
        </a:spcBef>
        <a:spcAft>
          <a:spcPts val="300"/>
        </a:spcAft>
        <a:buFont typeface="Franklin Gothic Book" panose="020B0503020102020204" pitchFamily="34" charset="0"/>
        <a:buChar char="■"/>
        <a:defRPr sz="21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97254" y="3086100"/>
            <a:ext cx="13891468" cy="175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8"/>
              </a:lnSpc>
            </a:pPr>
            <a:r>
              <a:rPr lang="ru-RU" sz="5400" b="1" dirty="0">
                <a:latin typeface="Book Antiqua" panose="02040602050305030304" pitchFamily="18" charset="0"/>
              </a:rPr>
              <a:t>Программа анализа хеш-таблиц с цепочками</a:t>
            </a:r>
            <a:endParaRPr lang="en-US" sz="16600" b="1" dirty="0">
              <a:solidFill>
                <a:srgbClr val="000000"/>
              </a:solidFill>
              <a:latin typeface="Book Antiqua" panose="020406020503050303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648200" y="316990"/>
            <a:ext cx="10058400" cy="1115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09"/>
              </a:lnSpc>
            </a:pPr>
            <a:r>
              <a:rPr lang="en-US" sz="4000" i="1" dirty="0" err="1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Курсовой</a:t>
            </a:r>
            <a:r>
              <a:rPr lang="en-US" sz="4000" i="1" dirty="0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i="1" dirty="0" err="1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проект</a:t>
            </a:r>
            <a:r>
              <a:rPr lang="en-US" sz="4000" i="1" dirty="0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i="1" dirty="0" err="1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по</a:t>
            </a:r>
            <a:r>
              <a:rPr lang="ru-RU" sz="40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предмету</a:t>
            </a:r>
            <a:r>
              <a:rPr lang="en-US" sz="4000" i="1" dirty="0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 «</a:t>
            </a:r>
            <a:r>
              <a:rPr lang="en-US" sz="4000" i="1" dirty="0" err="1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Основы</a:t>
            </a:r>
            <a:r>
              <a:rPr lang="en-US" sz="4000" i="1" dirty="0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i="1" dirty="0" err="1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алгоритмизации</a:t>
            </a:r>
            <a:r>
              <a:rPr lang="en-US" sz="4000" i="1" dirty="0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4000" i="1" dirty="0" err="1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программирования</a:t>
            </a:r>
            <a:r>
              <a:rPr lang="en-US" sz="4000" i="1" dirty="0">
                <a:solidFill>
                  <a:srgbClr val="000000"/>
                </a:solidFill>
                <a:latin typeface="Tekton Pro Ext" panose="020F0605020208020904" pitchFamily="34" charset="0"/>
                <a:ea typeface="Times New Roman"/>
                <a:cs typeface="Times New Roman"/>
                <a:sym typeface="Times New Roman"/>
              </a:rPr>
              <a:t>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7130" y="5293214"/>
            <a:ext cx="16409984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</a:t>
            </a:r>
            <a:r>
              <a:rPr lang="ru-RU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ила</a:t>
            </a: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учащаяся</a:t>
            </a: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группы</a:t>
            </a: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2ПОИС24 </a:t>
            </a:r>
            <a:r>
              <a:rPr lang="en-US" sz="3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Оршанского</a:t>
            </a: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колледжа</a:t>
            </a: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ВГУ </a:t>
            </a:r>
            <a:r>
              <a:rPr lang="en-US" sz="3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имени</a:t>
            </a: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П.М. </a:t>
            </a:r>
            <a:r>
              <a:rPr lang="en-US" sz="3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Машерова</a:t>
            </a:r>
            <a:endParaRPr lang="en-US" sz="31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37130" y="5722043"/>
            <a:ext cx="4605144" cy="494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Тетеря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Анастасия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Олеговна</a:t>
            </a:r>
            <a:endParaRPr lang="en-US" sz="26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37130" y="7047445"/>
            <a:ext cx="272527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1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</a:t>
            </a:r>
            <a:endParaRPr lang="en-US" sz="31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4718" y="7376558"/>
            <a:ext cx="7512691" cy="53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Романцов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Денис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Юрьевич</a:t>
            </a:r>
            <a:endParaRPr lang="en-US" sz="26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268759" y="879062"/>
            <a:ext cx="6655147" cy="76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4"/>
              </a:lnSpc>
            </a:pPr>
            <a:r>
              <a:rPr lang="ru-RU" sz="50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Цели:</a:t>
            </a:r>
            <a:endParaRPr lang="en-US" sz="50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68759" y="1630503"/>
            <a:ext cx="9445523" cy="236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BY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Интерес к проблеме реализации эффективных структур данных обусловлен необходимостью разработки программных систем, способных работать с большими массивами информации в реальном времени. В связи с этим большое значение приобретает изучение методов разрешения коллизий, возникающих при работе хэш-таблиц. Одним из наиболее распространённых и наглядных методов является метод цепочек, позволяющий эффективно обрабатывать ситуации совпадения хэш-индексов.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74994" y="4132098"/>
            <a:ext cx="4627369" cy="2705843"/>
            <a:chOff x="0" y="0"/>
            <a:chExt cx="6169825" cy="36077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69787" cy="3607816"/>
            </a:xfrm>
            <a:custGeom>
              <a:avLst/>
              <a:gdLst/>
              <a:ahLst/>
              <a:cxnLst/>
              <a:rect l="l" t="t" r="r" b="b"/>
              <a:pathLst>
                <a:path w="6169787" h="3607816">
                  <a:moveTo>
                    <a:pt x="0" y="300863"/>
                  </a:moveTo>
                  <a:cubicBezTo>
                    <a:pt x="0" y="134747"/>
                    <a:pt x="134747" y="0"/>
                    <a:pt x="300863" y="0"/>
                  </a:cubicBezTo>
                  <a:lnTo>
                    <a:pt x="5868924" y="0"/>
                  </a:lnTo>
                  <a:cubicBezTo>
                    <a:pt x="6035040" y="0"/>
                    <a:pt x="6169787" y="134747"/>
                    <a:pt x="6169787" y="300863"/>
                  </a:cubicBezTo>
                  <a:lnTo>
                    <a:pt x="6169787" y="3306953"/>
                  </a:lnTo>
                  <a:cubicBezTo>
                    <a:pt x="6169787" y="3473069"/>
                    <a:pt x="6035040" y="3607816"/>
                    <a:pt x="5868924" y="3607816"/>
                  </a:cubicBezTo>
                  <a:lnTo>
                    <a:pt x="300863" y="3607816"/>
                  </a:lnTo>
                  <a:cubicBezTo>
                    <a:pt x="134747" y="3607816"/>
                    <a:pt x="0" y="3473069"/>
                    <a:pt x="0" y="3306953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C5C7D2"/>
              </a:solidFill>
              <a:prstDash val="solid"/>
              <a:miter/>
            </a:ln>
          </p:spPr>
          <p:txBody>
            <a:bodyPr/>
            <a:lstStyle/>
            <a:p>
              <a:endParaRPr lang="ru-BY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20262" y="4319422"/>
            <a:ext cx="3227938" cy="408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Хэш-функция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0262" y="4796856"/>
            <a:ext cx="4045744" cy="2198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1"/>
              </a:lnSpc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Преобразует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индекс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массива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Хорошая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функция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равномерно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распределяет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ключи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минимизирует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коллизии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3511"/>
              </a:lnSpc>
            </a:pPr>
            <a:endParaRPr lang="en-US" sz="21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6034155" y="4132098"/>
            <a:ext cx="4627369" cy="2705843"/>
            <a:chOff x="0" y="0"/>
            <a:chExt cx="6169825" cy="36077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69787" cy="3607816"/>
            </a:xfrm>
            <a:custGeom>
              <a:avLst/>
              <a:gdLst/>
              <a:ahLst/>
              <a:cxnLst/>
              <a:rect l="l" t="t" r="r" b="b"/>
              <a:pathLst>
                <a:path w="6169787" h="3607816">
                  <a:moveTo>
                    <a:pt x="0" y="300863"/>
                  </a:moveTo>
                  <a:cubicBezTo>
                    <a:pt x="0" y="134747"/>
                    <a:pt x="134747" y="0"/>
                    <a:pt x="300863" y="0"/>
                  </a:cubicBezTo>
                  <a:lnTo>
                    <a:pt x="5868924" y="0"/>
                  </a:lnTo>
                  <a:cubicBezTo>
                    <a:pt x="6035040" y="0"/>
                    <a:pt x="6169787" y="134747"/>
                    <a:pt x="6169787" y="300863"/>
                  </a:cubicBezTo>
                  <a:lnTo>
                    <a:pt x="6169787" y="3306953"/>
                  </a:lnTo>
                  <a:cubicBezTo>
                    <a:pt x="6169787" y="3473069"/>
                    <a:pt x="6035040" y="3607816"/>
                    <a:pt x="5868924" y="3607816"/>
                  </a:cubicBezTo>
                  <a:lnTo>
                    <a:pt x="300863" y="3607816"/>
                  </a:lnTo>
                  <a:cubicBezTo>
                    <a:pt x="134747" y="3607816"/>
                    <a:pt x="0" y="3473069"/>
                    <a:pt x="0" y="3306953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C5C7D2"/>
              </a:solidFill>
              <a:prstDash val="solid"/>
              <a:miter/>
            </a:ln>
          </p:spPr>
          <p:txBody>
            <a:bodyPr/>
            <a:lstStyle/>
            <a:p>
              <a:endParaRPr lang="ru-BY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258852" y="4310553"/>
            <a:ext cx="1665054" cy="408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Коллизии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54370" y="4738025"/>
            <a:ext cx="4045744" cy="1746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Ситуация,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когда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два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разных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ключа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дают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одинаковый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Требует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специального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механизма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разрешения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74994" y="6965823"/>
            <a:ext cx="9486501" cy="1911991"/>
            <a:chOff x="0" y="0"/>
            <a:chExt cx="12632131" cy="254932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632182" cy="2549398"/>
            </a:xfrm>
            <a:custGeom>
              <a:avLst/>
              <a:gdLst/>
              <a:ahLst/>
              <a:cxnLst/>
              <a:rect l="l" t="t" r="r" b="b"/>
              <a:pathLst>
                <a:path w="12632182" h="2549398">
                  <a:moveTo>
                    <a:pt x="0" y="302260"/>
                  </a:moveTo>
                  <a:cubicBezTo>
                    <a:pt x="0" y="135255"/>
                    <a:pt x="135255" y="0"/>
                    <a:pt x="302260" y="0"/>
                  </a:cubicBezTo>
                  <a:lnTo>
                    <a:pt x="12329922" y="0"/>
                  </a:lnTo>
                  <a:cubicBezTo>
                    <a:pt x="12496800" y="0"/>
                    <a:pt x="12632182" y="135255"/>
                    <a:pt x="12632182" y="302260"/>
                  </a:cubicBezTo>
                  <a:lnTo>
                    <a:pt x="12632182" y="2247138"/>
                  </a:lnTo>
                  <a:cubicBezTo>
                    <a:pt x="12632182" y="2414016"/>
                    <a:pt x="12496927" y="2549398"/>
                    <a:pt x="12329922" y="2549398"/>
                  </a:cubicBezTo>
                  <a:lnTo>
                    <a:pt x="302260" y="2549398"/>
                  </a:lnTo>
                  <a:cubicBezTo>
                    <a:pt x="135382" y="2549398"/>
                    <a:pt x="0" y="2414143"/>
                    <a:pt x="0" y="2247138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C5C7D2"/>
              </a:solidFill>
              <a:prstDash val="solid"/>
              <a:miter/>
            </a:ln>
          </p:spPr>
          <p:txBody>
            <a:bodyPr/>
            <a:lstStyle/>
            <a:p>
              <a:endParaRPr lang="ru-BY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30816" y="7122821"/>
            <a:ext cx="2631584" cy="408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</a:t>
            </a:r>
            <a:r>
              <a:rPr lang="en-US" sz="26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цепочек</a:t>
            </a:r>
            <a:endParaRPr lang="en-US" sz="26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56092" y="7716078"/>
            <a:ext cx="8892483" cy="87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Каждая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ячейка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хранит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связный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список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всех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ключ-значение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одинаковым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хэшем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pic>
        <p:nvPicPr>
          <p:cNvPr id="20" name="Рисунок 19" descr="Хеш-таблица как структура данных кратко Структуры данных">
            <a:extLst>
              <a:ext uri="{FF2B5EF4-FFF2-40B4-BE49-F238E27FC236}">
                <a16:creationId xmlns:a16="http://schemas.microsoft.com/office/drawing/2014/main" id="{F41EE1A0-484D-5F7D-F7F7-9018CC26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2152385"/>
            <a:ext cx="6851076" cy="5982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0B238-4220-CFEA-5B4D-DE01F38C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EC96FA3-B9AE-891E-3AE9-1BE486F158B2}"/>
              </a:ext>
            </a:extLst>
          </p:cNvPr>
          <p:cNvSpPr txBox="1"/>
          <p:nvPr/>
        </p:nvSpPr>
        <p:spPr>
          <a:xfrm>
            <a:off x="1371600" y="647700"/>
            <a:ext cx="6655147" cy="76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4"/>
              </a:lnSpc>
            </a:pPr>
            <a:r>
              <a:rPr lang="ru-RU" sz="50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Задачи:</a:t>
            </a:r>
            <a:endParaRPr lang="en-US" sz="50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0042D1-8914-19A8-C353-2C7E7851390B}"/>
              </a:ext>
            </a:extLst>
          </p:cNvPr>
          <p:cNvSpPr txBox="1"/>
          <p:nvPr/>
        </p:nvSpPr>
        <p:spPr>
          <a:xfrm>
            <a:off x="1219200" y="1760220"/>
            <a:ext cx="9445523" cy="787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рассмотреть принципы работы хэш-таблиц и хэш-функций;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BY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методы разрешения коллизий;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BY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хэш-таблицу с использованием метода цепочек на языке программирования C#;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BY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алгоритмы вставки, поиска и удаления элементов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очистки</a:t>
            </a:r>
            <a:r>
              <a:rPr 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BY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эффективности реализованных алгоритмов;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BY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BY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программное приложение для наглядной демонстрации работы структуры данных.</a:t>
            </a:r>
          </a:p>
        </p:txBody>
      </p:sp>
      <p:pic>
        <p:nvPicPr>
          <p:cNvPr id="20" name="Рисунок 19" descr="Хеш-таблица как структура данных кратко Структуры данных">
            <a:extLst>
              <a:ext uri="{FF2B5EF4-FFF2-40B4-BE49-F238E27FC236}">
                <a16:creationId xmlns:a16="http://schemas.microsoft.com/office/drawing/2014/main" id="{E8A954F4-A279-E587-D349-218543B95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723" y="2095500"/>
            <a:ext cx="7204892" cy="629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5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6325" y="581552"/>
            <a:ext cx="12966128" cy="794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14"/>
              </a:lnSpc>
            </a:pPr>
            <a:r>
              <a:rPr lang="ru-RU" sz="52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курсового проектирования:</a:t>
            </a:r>
            <a:endParaRPr lang="en-US" sz="52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25968" y="1943100"/>
            <a:ext cx="8206378" cy="6917431"/>
            <a:chOff x="0" y="0"/>
            <a:chExt cx="10941837" cy="92232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41812" cy="9223183"/>
            </a:xfrm>
            <a:custGeom>
              <a:avLst/>
              <a:gdLst/>
              <a:ahLst/>
              <a:cxnLst/>
              <a:rect l="l" t="t" r="r" b="b"/>
              <a:pathLst>
                <a:path w="10941812" h="9223183">
                  <a:moveTo>
                    <a:pt x="0" y="551474"/>
                  </a:moveTo>
                  <a:cubicBezTo>
                    <a:pt x="0" y="246847"/>
                    <a:pt x="213233" y="0"/>
                    <a:pt x="476377" y="0"/>
                  </a:cubicBezTo>
                  <a:lnTo>
                    <a:pt x="10465435" y="0"/>
                  </a:lnTo>
                  <a:cubicBezTo>
                    <a:pt x="10728578" y="0"/>
                    <a:pt x="10941812" y="246847"/>
                    <a:pt x="10941812" y="551474"/>
                  </a:cubicBezTo>
                  <a:lnTo>
                    <a:pt x="10941812" y="8671709"/>
                  </a:lnTo>
                  <a:cubicBezTo>
                    <a:pt x="10941812" y="8976335"/>
                    <a:pt x="10728578" y="9223183"/>
                    <a:pt x="10465435" y="9223183"/>
                  </a:cubicBezTo>
                  <a:lnTo>
                    <a:pt x="476377" y="9223183"/>
                  </a:lnTo>
                  <a:cubicBezTo>
                    <a:pt x="213233" y="9223183"/>
                    <a:pt x="0" y="8976335"/>
                    <a:pt x="0" y="8671709"/>
                  </a:cubicBezTo>
                  <a:close/>
                </a:path>
              </a:pathLst>
            </a:custGeom>
            <a:solidFill>
              <a:srgbClr val="C6C9DC"/>
            </a:solidFill>
          </p:spPr>
          <p:txBody>
            <a:bodyPr/>
            <a:lstStyle/>
            <a:p>
              <a:endParaRPr lang="ru-BY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96325" y="2034007"/>
            <a:ext cx="7710488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BY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Разрабатываемая программа предназначена для решения ряда типовых задач, связанных с исследованием эффективности хэш-таблиц с методом цепочек. Она позволяет проводить различные эксперименты, изменять параметры структуры данных и получать статистические результаты, необходимые для анализа качества её работы.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0450" y="4476092"/>
            <a:ext cx="7710488" cy="406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4" lvl="1" algn="just"/>
            <a:r>
              <a:rPr lang="ru-BY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Следующей важной задачей является исследование коллизий. Коллизией (совпадением результатов работы хэш-функции для различных ключей) называется ситуация, при которой несколько элементов попадают в одну и ту же ячейку таблицы. По мере заполнения таблицы вероятность возникновения коллизий увеличивается. Программа позволяет определить, каким образом количество коллизий изменяется в зависимости от коэффициента загрузки (отношения числа сохранённых элементов к общему количеству ячеек таблицы).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465372" y="1969683"/>
            <a:ext cx="4860228" cy="433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8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Визуализация</a:t>
            </a:r>
            <a:r>
              <a:rPr lang="en-US" sz="28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структуры</a:t>
            </a:r>
            <a:endParaRPr lang="en-US" sz="28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483301" y="2434079"/>
            <a:ext cx="7849200" cy="9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Каждая</a:t>
            </a: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ячейка</a:t>
            </a: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массива</a:t>
            </a: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«</a:t>
            </a:r>
            <a:r>
              <a:rPr lang="en-US" sz="2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корзина</a:t>
            </a: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». </a:t>
            </a:r>
            <a:r>
              <a:rPr lang="en-US" sz="2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Элементы</a:t>
            </a: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одинаковым</a:t>
            </a: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хэшем</a:t>
            </a: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образуют</a:t>
            </a: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цепочку</a:t>
            </a:r>
            <a:r>
              <a:rPr lang="en-US" sz="2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428922" y="4332104"/>
            <a:ext cx="3810152" cy="1557042"/>
            <a:chOff x="0" y="0"/>
            <a:chExt cx="5080203" cy="20760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080254" cy="2076069"/>
            </a:xfrm>
            <a:custGeom>
              <a:avLst/>
              <a:gdLst/>
              <a:ahLst/>
              <a:cxnLst/>
              <a:rect l="l" t="t" r="r" b="b"/>
              <a:pathLst>
                <a:path w="5080254" h="2076069">
                  <a:moveTo>
                    <a:pt x="0" y="299593"/>
                  </a:moveTo>
                  <a:cubicBezTo>
                    <a:pt x="0" y="134112"/>
                    <a:pt x="134112" y="0"/>
                    <a:pt x="299593" y="0"/>
                  </a:cubicBezTo>
                  <a:lnTo>
                    <a:pt x="4780661" y="0"/>
                  </a:lnTo>
                  <a:cubicBezTo>
                    <a:pt x="4946142" y="0"/>
                    <a:pt x="5080254" y="134112"/>
                    <a:pt x="5080254" y="299593"/>
                  </a:cubicBezTo>
                  <a:lnTo>
                    <a:pt x="5080254" y="1776476"/>
                  </a:lnTo>
                  <a:cubicBezTo>
                    <a:pt x="5080254" y="1941957"/>
                    <a:pt x="4946142" y="2076069"/>
                    <a:pt x="4780661" y="2076069"/>
                  </a:cubicBezTo>
                  <a:lnTo>
                    <a:pt x="299593" y="2076069"/>
                  </a:lnTo>
                  <a:cubicBezTo>
                    <a:pt x="134112" y="2076069"/>
                    <a:pt x="0" y="1941957"/>
                    <a:pt x="0" y="1776476"/>
                  </a:cubicBezTo>
                  <a:close/>
                </a:path>
              </a:pathLst>
            </a:custGeom>
            <a:solidFill>
              <a:srgbClr val="EFF0F6"/>
            </a:solidFill>
            <a:ln w="9526" cap="sq">
              <a:solidFill>
                <a:srgbClr val="C5C7D2"/>
              </a:solidFill>
              <a:prstDash val="solid"/>
              <a:miter/>
            </a:ln>
          </p:spPr>
          <p:txBody>
            <a:bodyPr/>
            <a:lstStyle/>
            <a:p>
              <a:endParaRPr lang="ru-BY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594656" y="4556236"/>
            <a:ext cx="1759144" cy="433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8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Ячейка</a:t>
            </a:r>
            <a:r>
              <a:rPr lang="en-US" sz="28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94656" y="5125212"/>
            <a:ext cx="3285677" cy="46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"apple" → "grape"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380987" y="4332104"/>
            <a:ext cx="3810152" cy="1557042"/>
            <a:chOff x="0" y="0"/>
            <a:chExt cx="5080203" cy="20760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80254" cy="2076069"/>
            </a:xfrm>
            <a:custGeom>
              <a:avLst/>
              <a:gdLst/>
              <a:ahLst/>
              <a:cxnLst/>
              <a:rect l="l" t="t" r="r" b="b"/>
              <a:pathLst>
                <a:path w="5080254" h="2076069">
                  <a:moveTo>
                    <a:pt x="0" y="299593"/>
                  </a:moveTo>
                  <a:cubicBezTo>
                    <a:pt x="0" y="134112"/>
                    <a:pt x="134112" y="0"/>
                    <a:pt x="299593" y="0"/>
                  </a:cubicBezTo>
                  <a:lnTo>
                    <a:pt x="4780661" y="0"/>
                  </a:lnTo>
                  <a:cubicBezTo>
                    <a:pt x="4946142" y="0"/>
                    <a:pt x="5080254" y="134112"/>
                    <a:pt x="5080254" y="299593"/>
                  </a:cubicBezTo>
                  <a:lnTo>
                    <a:pt x="5080254" y="1776476"/>
                  </a:lnTo>
                  <a:cubicBezTo>
                    <a:pt x="5080254" y="1941957"/>
                    <a:pt x="4946142" y="2076069"/>
                    <a:pt x="4780661" y="2076069"/>
                  </a:cubicBezTo>
                  <a:lnTo>
                    <a:pt x="299593" y="2076069"/>
                  </a:lnTo>
                  <a:cubicBezTo>
                    <a:pt x="134112" y="2076069"/>
                    <a:pt x="0" y="1941957"/>
                    <a:pt x="0" y="1776476"/>
                  </a:cubicBezTo>
                  <a:close/>
                </a:path>
              </a:pathLst>
            </a:custGeom>
            <a:solidFill>
              <a:srgbClr val="EFF0F6"/>
            </a:solidFill>
            <a:ln w="9526" cap="sq">
              <a:solidFill>
                <a:srgbClr val="C5C7D2"/>
              </a:solidFill>
              <a:prstDash val="solid"/>
              <a:miter/>
            </a:ln>
          </p:spPr>
          <p:txBody>
            <a:bodyPr/>
            <a:lstStyle/>
            <a:p>
              <a:endParaRPr lang="ru-BY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643229" y="4556236"/>
            <a:ext cx="2053971" cy="433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8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Ячейка</a:t>
            </a:r>
            <a:r>
              <a:rPr lang="en-US" sz="28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43229" y="5125212"/>
            <a:ext cx="3285677" cy="46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"banana"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386811" y="6128876"/>
            <a:ext cx="7858725" cy="1557042"/>
            <a:chOff x="0" y="0"/>
            <a:chExt cx="10478300" cy="20760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78389" cy="2076069"/>
            </a:xfrm>
            <a:custGeom>
              <a:avLst/>
              <a:gdLst/>
              <a:ahLst/>
              <a:cxnLst/>
              <a:rect l="l" t="t" r="r" b="b"/>
              <a:pathLst>
                <a:path w="10478389" h="2076069">
                  <a:moveTo>
                    <a:pt x="0" y="299593"/>
                  </a:moveTo>
                  <a:cubicBezTo>
                    <a:pt x="0" y="134112"/>
                    <a:pt x="134112" y="0"/>
                    <a:pt x="299593" y="0"/>
                  </a:cubicBezTo>
                  <a:lnTo>
                    <a:pt x="10178796" y="0"/>
                  </a:lnTo>
                  <a:cubicBezTo>
                    <a:pt x="10344277" y="0"/>
                    <a:pt x="10478389" y="134112"/>
                    <a:pt x="10478389" y="299593"/>
                  </a:cubicBezTo>
                  <a:lnTo>
                    <a:pt x="10478389" y="1776476"/>
                  </a:lnTo>
                  <a:cubicBezTo>
                    <a:pt x="10478389" y="1941957"/>
                    <a:pt x="10344277" y="2076069"/>
                    <a:pt x="10178796" y="2076069"/>
                  </a:cubicBezTo>
                  <a:lnTo>
                    <a:pt x="299593" y="2076069"/>
                  </a:lnTo>
                  <a:cubicBezTo>
                    <a:pt x="134112" y="2076069"/>
                    <a:pt x="0" y="1941957"/>
                    <a:pt x="0" y="1776476"/>
                  </a:cubicBezTo>
                  <a:close/>
                </a:path>
              </a:pathLst>
            </a:custGeom>
            <a:solidFill>
              <a:srgbClr val="EFF0F6"/>
            </a:solidFill>
            <a:ln w="9526" cap="sq">
              <a:solidFill>
                <a:srgbClr val="C5C7D2"/>
              </a:solidFill>
              <a:prstDash val="solid"/>
              <a:miter/>
            </a:ln>
          </p:spPr>
          <p:txBody>
            <a:bodyPr/>
            <a:lstStyle/>
            <a:p>
              <a:endParaRPr lang="ru-BY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594656" y="6351699"/>
            <a:ext cx="2140144" cy="433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8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Ячейка</a:t>
            </a:r>
            <a:r>
              <a:rPr lang="en-US" sz="28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94656" y="6920675"/>
            <a:ext cx="7334250" cy="46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пусто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295400" y="2019300"/>
            <a:ext cx="7297271" cy="6803833"/>
            <a:chOff x="0" y="0"/>
            <a:chExt cx="8226031" cy="82260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6044" cy="8226044"/>
            </a:xfrm>
            <a:custGeom>
              <a:avLst/>
              <a:gdLst/>
              <a:ahLst/>
              <a:cxnLst/>
              <a:rect l="l" t="t" r="r" b="b"/>
              <a:pathLst>
                <a:path w="8226044" h="8226044">
                  <a:moveTo>
                    <a:pt x="0" y="0"/>
                  </a:moveTo>
                  <a:lnTo>
                    <a:pt x="8226044" y="0"/>
                  </a:lnTo>
                  <a:lnTo>
                    <a:pt x="8226044" y="8226044"/>
                  </a:lnTo>
                  <a:lnTo>
                    <a:pt x="0" y="8226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905" r="-50905"/>
              </a:stretch>
            </a:blipFill>
          </p:spPr>
          <p:txBody>
            <a:bodyPr/>
            <a:lstStyle/>
            <a:p>
              <a:endParaRPr lang="ru-BY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24000" y="447814"/>
            <a:ext cx="10311188" cy="831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dirty="0" err="1">
                <a:solidFill>
                  <a:srgbClr val="000000"/>
                </a:solidFill>
                <a:latin typeface="Algerian" panose="04020705040A02060702" pitchFamily="82" charset="0"/>
                <a:ea typeface="Times New Roman"/>
                <a:cs typeface="Rubik Black" pitchFamily="2" charset="-79"/>
                <a:sym typeface="Times New Roman"/>
              </a:rPr>
              <a:t>Обзор</a:t>
            </a:r>
            <a:r>
              <a:rPr lang="en-US" sz="5499" dirty="0">
                <a:solidFill>
                  <a:srgbClr val="000000"/>
                </a:solidFill>
                <a:latin typeface="Algerian" panose="04020705040A02060702" pitchFamily="82" charset="0"/>
                <a:ea typeface="Times New Roman"/>
                <a:cs typeface="Rubik Black" pitchFamily="2" charset="-79"/>
                <a:sym typeface="Times New Roman"/>
              </a:rPr>
              <a:t> </a:t>
            </a:r>
            <a:r>
              <a:rPr lang="en-US" sz="5499" dirty="0" err="1">
                <a:solidFill>
                  <a:srgbClr val="000000"/>
                </a:solidFill>
                <a:latin typeface="Algerian" panose="04020705040A02060702" pitchFamily="82" charset="0"/>
                <a:ea typeface="Times New Roman"/>
                <a:cs typeface="Rubik Black" pitchFamily="2" charset="-79"/>
                <a:sym typeface="Times New Roman"/>
              </a:rPr>
              <a:t>аналогов</a:t>
            </a:r>
            <a:r>
              <a:rPr lang="en-US" sz="5499" dirty="0">
                <a:solidFill>
                  <a:srgbClr val="000000"/>
                </a:solidFill>
                <a:latin typeface="Algerian" panose="04020705040A02060702" pitchFamily="82" charset="0"/>
                <a:ea typeface="Times New Roman"/>
                <a:cs typeface="Rubik Black" pitchFamily="2" charset="-79"/>
                <a:sym typeface="Times New Roman"/>
              </a:rPr>
              <a:t>: </a:t>
            </a:r>
            <a:r>
              <a:rPr lang="en-US" sz="5499" dirty="0" err="1">
                <a:solidFill>
                  <a:srgbClr val="000000"/>
                </a:solidFill>
                <a:latin typeface="Algerian" panose="04020705040A02060702" pitchFamily="82" charset="0"/>
                <a:ea typeface="Times New Roman"/>
                <a:cs typeface="Rubik Black" pitchFamily="2" charset="-79"/>
                <a:sym typeface="Times New Roman"/>
              </a:rPr>
              <a:t>VisuАlgo</a:t>
            </a:r>
            <a:endParaRPr lang="en-US" sz="5499" dirty="0">
              <a:solidFill>
                <a:srgbClr val="000000"/>
              </a:solidFill>
              <a:latin typeface="Algerian" panose="04020705040A02060702" pitchFamily="82" charset="0"/>
              <a:ea typeface="Times New Roman"/>
              <a:cs typeface="Rubik Black" pitchFamily="2" charset="-79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991600" y="2034988"/>
            <a:ext cx="2376935" cy="468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68"/>
              </a:lnSpc>
            </a:pPr>
            <a:r>
              <a:rPr lang="en-US" sz="30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Описание</a:t>
            </a:r>
            <a:endParaRPr lang="en-US" sz="30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91601" y="2599829"/>
            <a:ext cx="9148552" cy="2039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87"/>
              </a:lnSpc>
            </a:pP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представляет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собой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интерактивную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доску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отображается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массив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списки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вводить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число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нажимать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кнопку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видеть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элемент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попадает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нужную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корзину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92683" y="5143500"/>
            <a:ext cx="9547469" cy="1524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3687" lvl="1" algn="l">
              <a:lnSpc>
                <a:spcPts val="4087"/>
              </a:lnSpc>
            </a:pPr>
            <a:r>
              <a:rPr lang="en-US" sz="25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r>
              <a:rPr lang="en-US" sz="25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пошаговая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демонстрация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вставки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удаления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поиска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подсчет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коллизий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поддержка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разных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типов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хэш-функций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13523" lvl="1" algn="l">
              <a:lnSpc>
                <a:spcPts val="4087"/>
              </a:lnSpc>
            </a:pPr>
            <a:r>
              <a:rPr lang="en-US" sz="25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Стоимость</a:t>
            </a:r>
            <a:r>
              <a:rPr lang="en-US" sz="25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бесплатно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онлайн-версия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исходный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код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открыт</a:t>
            </a:r>
            <a:r>
              <a:rPr lang="en-US" sz="2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523884" y="2377920"/>
            <a:ext cx="6324716" cy="3548267"/>
            <a:chOff x="0" y="0"/>
            <a:chExt cx="6183909" cy="38219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83884" cy="3821938"/>
            </a:xfrm>
            <a:custGeom>
              <a:avLst/>
              <a:gdLst/>
              <a:ahLst/>
              <a:cxnLst/>
              <a:rect l="l" t="t" r="r" b="b"/>
              <a:pathLst>
                <a:path w="6183884" h="3821938">
                  <a:moveTo>
                    <a:pt x="0" y="0"/>
                  </a:moveTo>
                  <a:lnTo>
                    <a:pt x="6183884" y="0"/>
                  </a:lnTo>
                  <a:lnTo>
                    <a:pt x="6183884" y="3821938"/>
                  </a:lnTo>
                  <a:lnTo>
                    <a:pt x="0" y="38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45" r="-3545"/>
              </a:stretch>
            </a:blipFill>
          </p:spPr>
          <p:txBody>
            <a:bodyPr/>
            <a:lstStyle/>
            <a:p>
              <a:endParaRPr lang="ru-BY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98424" y="2344738"/>
            <a:ext cx="6324690" cy="3548290"/>
            <a:chOff x="0" y="0"/>
            <a:chExt cx="6184113" cy="38219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84138" cy="3821938"/>
            </a:xfrm>
            <a:custGeom>
              <a:avLst/>
              <a:gdLst/>
              <a:ahLst/>
              <a:cxnLst/>
              <a:rect l="l" t="t" r="r" b="b"/>
              <a:pathLst>
                <a:path w="6184138" h="3821938">
                  <a:moveTo>
                    <a:pt x="0" y="0"/>
                  </a:moveTo>
                  <a:lnTo>
                    <a:pt x="6184138" y="0"/>
                  </a:lnTo>
                  <a:lnTo>
                    <a:pt x="6184138" y="3821938"/>
                  </a:lnTo>
                  <a:lnTo>
                    <a:pt x="0" y="38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221" b="-2221"/>
              </a:stretch>
            </a:blipFill>
          </p:spPr>
          <p:txBody>
            <a:bodyPr/>
            <a:lstStyle/>
            <a:p>
              <a:endParaRPr lang="ru-BY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10437" y="571500"/>
            <a:ext cx="15925800" cy="784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199" dirty="0" err="1">
                <a:solidFill>
                  <a:srgbClr val="000000"/>
                </a:solidFill>
                <a:latin typeface="Algerian" panose="04020705040A02060702" pitchFamily="82" charset="0"/>
                <a:ea typeface="Times New Roman"/>
                <a:cs typeface="Times New Roman"/>
                <a:sym typeface="Times New Roman"/>
              </a:rPr>
              <a:t>Обзор</a:t>
            </a:r>
            <a:r>
              <a:rPr lang="en-US" sz="5199" dirty="0">
                <a:solidFill>
                  <a:srgbClr val="000000"/>
                </a:solidFill>
                <a:latin typeface="Algerian" panose="04020705040A02060702" pitchFamily="8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199" dirty="0" err="1">
                <a:solidFill>
                  <a:srgbClr val="000000"/>
                </a:solidFill>
                <a:latin typeface="Algerian" panose="04020705040A02060702" pitchFamily="82" charset="0"/>
                <a:ea typeface="Times New Roman"/>
                <a:cs typeface="Times New Roman"/>
                <a:sym typeface="Times New Roman"/>
              </a:rPr>
              <a:t>аналогов</a:t>
            </a:r>
            <a:r>
              <a:rPr lang="en-US" sz="5199" dirty="0">
                <a:solidFill>
                  <a:srgbClr val="000000"/>
                </a:solidFill>
                <a:latin typeface="Algerian" panose="04020705040A02060702" pitchFamily="82" charset="0"/>
                <a:ea typeface="Times New Roman"/>
                <a:cs typeface="Times New Roman"/>
                <a:sym typeface="Times New Roman"/>
              </a:rPr>
              <a:t>: Convert string и </a:t>
            </a:r>
            <a:r>
              <a:rPr lang="en-US" sz="5199" dirty="0" err="1">
                <a:solidFill>
                  <a:srgbClr val="000000"/>
                </a:solidFill>
                <a:latin typeface="Algerian" panose="04020705040A02060702" pitchFamily="82" charset="0"/>
                <a:ea typeface="Times New Roman"/>
                <a:cs typeface="Times New Roman"/>
                <a:sym typeface="Times New Roman"/>
              </a:rPr>
              <a:t>Hashblot</a:t>
            </a:r>
            <a:endParaRPr lang="en-US" sz="5199" dirty="0">
              <a:solidFill>
                <a:srgbClr val="000000"/>
              </a:solidFill>
              <a:latin typeface="Algerian" panose="04020705040A02060702" pitchFamily="82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23884" y="5908776"/>
            <a:ext cx="3276716" cy="420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string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0215" y="6397180"/>
            <a:ext cx="7996685" cy="318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представляет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собой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два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блока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отображается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исходная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строка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выходная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строка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преобразованная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вводить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предложение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и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нажатия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кнопки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«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MD5 Hash» (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можно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выбрать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другие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хэш-функции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втором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блоке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появится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совсем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хэш-таблица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связанная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этим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программа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3670"/>
              </a:lnSpc>
            </a:pPr>
            <a:endParaRPr lang="en-US" sz="22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793942" y="5900913"/>
            <a:ext cx="1826266" cy="420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Hashblot</a:t>
            </a:r>
            <a:endParaRPr lang="en-US" sz="27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93942" y="6329532"/>
            <a:ext cx="7996828" cy="318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Веб-страница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которой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вводе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текста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генерируется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абстрактное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векторное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состоящее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кривых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Безье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кривой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зависит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хэша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введенной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строки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Позволяет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увидеть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незначительное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изменение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входной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строки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например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"test" и "test1")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полностью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меняет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изображения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лавинный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эффект</a:t>
            </a:r>
            <a:r>
              <a:rPr lang="en-US" sz="2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algn="l">
              <a:lnSpc>
                <a:spcPts val="3670"/>
              </a:lnSpc>
            </a:pPr>
            <a:endParaRPr lang="en-US" sz="22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524000" y="419100"/>
            <a:ext cx="13408521" cy="759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4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  <a: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IDEF0</a:t>
            </a:r>
            <a:r>
              <a:rPr lang="en-US" sz="4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4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контекстная</a:t>
            </a:r>
            <a:r>
              <a:rPr lang="en-US" sz="4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  <a:r>
              <a:rPr lang="en-US" sz="4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(A-0)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6071" y="1199094"/>
            <a:ext cx="16303523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IDEF0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описывает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функциональную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модель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системы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Контекстная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показывает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систему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единый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блок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входами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выходами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механизмами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управлениями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DCBD90B-C8A4-BDB8-C886-236B535ED0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4" t="2435" r="1220" b="6254"/>
          <a:stretch>
            <a:fillRect/>
          </a:stretch>
        </p:blipFill>
        <p:spPr>
          <a:xfrm>
            <a:off x="2362200" y="2247900"/>
            <a:ext cx="14947320" cy="7771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371600" y="342900"/>
            <a:ext cx="10431810" cy="74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4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  <a:r>
              <a:rPr lang="en-US" sz="4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IDEF0</a:t>
            </a:r>
            <a:r>
              <a:rPr lang="en-US" sz="4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4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декомпозиция</a:t>
            </a:r>
            <a:r>
              <a:rPr lang="en-US" sz="4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(A0)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1123338"/>
            <a:ext cx="16303523" cy="84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Декомпозиция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раскрывает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внутренние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процессы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системы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Выделены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четыре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управления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хэш-таблицей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цепочками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B3C823-7ACE-DEFD-5AA5-480CA1FDC8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6" t="2985" r="1440" b="2834"/>
          <a:stretch>
            <a:fillRect/>
          </a:stretch>
        </p:blipFill>
        <p:spPr>
          <a:xfrm>
            <a:off x="2057400" y="2010344"/>
            <a:ext cx="14923151" cy="8009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94010" y="2167432"/>
            <a:ext cx="10874190" cy="7548068"/>
            <a:chOff x="0" y="0"/>
            <a:chExt cx="5954116" cy="43799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54141" cy="4379906"/>
            </a:xfrm>
            <a:custGeom>
              <a:avLst/>
              <a:gdLst/>
              <a:ahLst/>
              <a:cxnLst/>
              <a:rect l="l" t="t" r="r" b="b"/>
              <a:pathLst>
                <a:path w="5954141" h="4379906">
                  <a:moveTo>
                    <a:pt x="0" y="0"/>
                  </a:moveTo>
                  <a:lnTo>
                    <a:pt x="5954141" y="0"/>
                  </a:lnTo>
                  <a:lnTo>
                    <a:pt x="5954141" y="4379906"/>
                  </a:lnTo>
                  <a:lnTo>
                    <a:pt x="0" y="4379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37" b="-1237"/>
              </a:stretch>
            </a:blipFill>
          </p:spPr>
          <p:txBody>
            <a:bodyPr/>
            <a:lstStyle/>
            <a:p>
              <a:endParaRPr lang="ru-BY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95360" y="2138154"/>
            <a:ext cx="5297691" cy="3587598"/>
            <a:chOff x="0" y="0"/>
            <a:chExt cx="7063588" cy="30785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63613" cy="3078607"/>
            </a:xfrm>
            <a:custGeom>
              <a:avLst/>
              <a:gdLst/>
              <a:ahLst/>
              <a:cxnLst/>
              <a:rect l="l" t="t" r="r" b="b"/>
              <a:pathLst>
                <a:path w="7063613" h="3078607">
                  <a:moveTo>
                    <a:pt x="0" y="301498"/>
                  </a:moveTo>
                  <a:cubicBezTo>
                    <a:pt x="0" y="135001"/>
                    <a:pt x="135001" y="0"/>
                    <a:pt x="301498" y="0"/>
                  </a:cubicBezTo>
                  <a:lnTo>
                    <a:pt x="6762115" y="0"/>
                  </a:lnTo>
                  <a:cubicBezTo>
                    <a:pt x="6928612" y="0"/>
                    <a:pt x="7063613" y="135001"/>
                    <a:pt x="7063613" y="301498"/>
                  </a:cubicBezTo>
                  <a:lnTo>
                    <a:pt x="7063613" y="2777109"/>
                  </a:lnTo>
                  <a:cubicBezTo>
                    <a:pt x="7063613" y="2943606"/>
                    <a:pt x="6928612" y="3078607"/>
                    <a:pt x="6762115" y="3078607"/>
                  </a:cubicBezTo>
                  <a:lnTo>
                    <a:pt x="301498" y="3078607"/>
                  </a:lnTo>
                  <a:cubicBezTo>
                    <a:pt x="135001" y="3078607"/>
                    <a:pt x="0" y="2943606"/>
                    <a:pt x="0" y="2777109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C5C7D2"/>
              </a:solidFill>
              <a:prstDash val="solid"/>
              <a:miter/>
            </a:ln>
          </p:spPr>
          <p:txBody>
            <a:bodyPr/>
            <a:lstStyle/>
            <a:p>
              <a:endParaRPr lang="ru-BY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95360" y="6094781"/>
            <a:ext cx="5297710" cy="3620633"/>
            <a:chOff x="-244067" y="0"/>
            <a:chExt cx="7063613" cy="3078607"/>
          </a:xfrm>
        </p:grpSpPr>
        <p:sp>
          <p:nvSpPr>
            <p:cNvPr id="9" name="Freeform 9"/>
            <p:cNvSpPr/>
            <p:nvPr/>
          </p:nvSpPr>
          <p:spPr>
            <a:xfrm>
              <a:off x="-244067" y="0"/>
              <a:ext cx="7063613" cy="3078607"/>
            </a:xfrm>
            <a:custGeom>
              <a:avLst/>
              <a:gdLst/>
              <a:ahLst/>
              <a:cxnLst/>
              <a:rect l="l" t="t" r="r" b="b"/>
              <a:pathLst>
                <a:path w="7063613" h="3078607">
                  <a:moveTo>
                    <a:pt x="0" y="301498"/>
                  </a:moveTo>
                  <a:cubicBezTo>
                    <a:pt x="0" y="135001"/>
                    <a:pt x="135001" y="0"/>
                    <a:pt x="301498" y="0"/>
                  </a:cubicBezTo>
                  <a:lnTo>
                    <a:pt x="6762115" y="0"/>
                  </a:lnTo>
                  <a:cubicBezTo>
                    <a:pt x="6928612" y="0"/>
                    <a:pt x="7063613" y="135001"/>
                    <a:pt x="7063613" y="301498"/>
                  </a:cubicBezTo>
                  <a:lnTo>
                    <a:pt x="7063613" y="2777109"/>
                  </a:lnTo>
                  <a:cubicBezTo>
                    <a:pt x="7063613" y="2943606"/>
                    <a:pt x="6928612" y="3078607"/>
                    <a:pt x="6762115" y="3078607"/>
                  </a:cubicBezTo>
                  <a:lnTo>
                    <a:pt x="301498" y="3078607"/>
                  </a:lnTo>
                  <a:cubicBezTo>
                    <a:pt x="135001" y="3078607"/>
                    <a:pt x="0" y="2943606"/>
                    <a:pt x="0" y="2777109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C5C7D2"/>
              </a:solidFill>
              <a:prstDash val="solid"/>
              <a:miter/>
            </a:ln>
          </p:spPr>
          <p:txBody>
            <a:bodyPr/>
            <a:lstStyle/>
            <a:p>
              <a:endParaRPr lang="ru-BY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62635" y="165124"/>
            <a:ext cx="16303523" cy="80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8"/>
              </a:lnSpc>
            </a:pPr>
            <a:r>
              <a:rPr lang="en-US" sz="44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  <a:r>
              <a:rPr lang="en-US" sz="4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Case</a:t>
            </a:r>
            <a:r>
              <a:rPr lang="en-US" sz="4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4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взаимодействие</a:t>
            </a:r>
            <a:r>
              <a:rPr lang="en-US" sz="4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4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системой</a:t>
            </a:r>
            <a:endParaRPr lang="en-US" sz="4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62634" y="938522"/>
            <a:ext cx="16303523" cy="107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вариантов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использования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описывает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точки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зрения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пользователя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Актор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«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взаимодействует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системой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через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набор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операций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27102" y="2263679"/>
            <a:ext cx="409239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1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</a:t>
            </a:r>
            <a:r>
              <a:rPr lang="en-US" sz="31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1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операции</a:t>
            </a:r>
            <a:endParaRPr lang="en-US" sz="31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621307" y="2744580"/>
            <a:ext cx="4716066" cy="1616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Вставка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удаление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три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ключевых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действия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пользователя</a:t>
            </a:r>
            <a:endParaRPr lang="en-US" sz="26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695327" y="6231365"/>
            <a:ext cx="4642045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1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Расширенные</a:t>
            </a:r>
            <a:r>
              <a:rPr lang="en-US" sz="31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1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функции</a:t>
            </a:r>
            <a:endParaRPr lang="en-US" sz="31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686182" y="6712266"/>
            <a:ext cx="4716066" cy="1616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цепочек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очистка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статистики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дополнительные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возможности</a:t>
            </a:r>
            <a:endParaRPr lang="en-US" sz="26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019800" y="4457700"/>
            <a:ext cx="8602027" cy="828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Демонстрация</a:t>
            </a:r>
            <a:r>
              <a:rPr lang="ru-RU" sz="5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программы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13388" y="1181100"/>
            <a:ext cx="7883012" cy="661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3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Итоги</a:t>
            </a:r>
            <a:r>
              <a:rPr lang="en-US" sz="43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43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</a:t>
            </a:r>
            <a:r>
              <a:rPr lang="en-US" sz="43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проекта</a:t>
            </a:r>
            <a:endParaRPr lang="en-US" sz="43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676400" y="2926884"/>
            <a:ext cx="14535048" cy="2521811"/>
            <a:chOff x="0" y="0"/>
            <a:chExt cx="19380065" cy="33624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380115" cy="3362327"/>
            </a:xfrm>
            <a:custGeom>
              <a:avLst/>
              <a:gdLst/>
              <a:ahLst/>
              <a:cxnLst/>
              <a:rect l="l" t="t" r="r" b="b"/>
              <a:pathLst>
                <a:path w="19380115" h="3362327">
                  <a:moveTo>
                    <a:pt x="0" y="427761"/>
                  </a:moveTo>
                  <a:cubicBezTo>
                    <a:pt x="0" y="191551"/>
                    <a:pt x="170830" y="0"/>
                    <a:pt x="381488" y="0"/>
                  </a:cubicBezTo>
                  <a:lnTo>
                    <a:pt x="18998654" y="0"/>
                  </a:lnTo>
                  <a:cubicBezTo>
                    <a:pt x="19209311" y="0"/>
                    <a:pt x="19380115" y="191551"/>
                    <a:pt x="19380115" y="427761"/>
                  </a:cubicBezTo>
                  <a:lnTo>
                    <a:pt x="19380115" y="2934565"/>
                  </a:lnTo>
                  <a:cubicBezTo>
                    <a:pt x="19380115" y="3170776"/>
                    <a:pt x="19209311" y="3362327"/>
                    <a:pt x="18998654" y="3362327"/>
                  </a:cubicBezTo>
                  <a:lnTo>
                    <a:pt x="381488" y="3362327"/>
                  </a:lnTo>
                  <a:cubicBezTo>
                    <a:pt x="170830" y="3362327"/>
                    <a:pt x="0" y="3170994"/>
                    <a:pt x="0" y="2934565"/>
                  </a:cubicBezTo>
                  <a:close/>
                </a:path>
              </a:pathLst>
            </a:custGeom>
            <a:solidFill>
              <a:srgbClr val="EFF0F6"/>
            </a:solidFill>
            <a:ln w="9526" cap="sq">
              <a:solidFill>
                <a:srgbClr val="C5C7D2"/>
              </a:solidFill>
              <a:prstDash val="solid"/>
              <a:miter/>
            </a:ln>
          </p:spPr>
          <p:txBody>
            <a:bodyPr/>
            <a:lstStyle/>
            <a:p>
              <a:endParaRPr lang="ru-BY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76455" y="3148325"/>
            <a:ext cx="503394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32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lang="en-US" sz="2399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76455" y="3612594"/>
            <a:ext cx="12305008" cy="1856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ходе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выполнения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данной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работы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была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разработана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реализована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обучающая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программа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HashTable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Analyzer,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предназначенная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изучения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принципов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работы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хэш-таблицы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методом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цепочек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В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процессе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разработки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были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изучены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применены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алгоритмы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работы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хэш-структурами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данных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включая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операции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добавления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поиска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удаления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изменения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анализа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распределения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элементов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ячейкам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r>
              <a:rPr lang="en-US" sz="1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2927"/>
              </a:lnSpc>
            </a:pPr>
            <a:endParaRPr lang="en-US" sz="1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600081" y="5745909"/>
            <a:ext cx="5087838" cy="70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</a:t>
            </a:r>
            <a:r>
              <a:rPr lang="en-US" sz="4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</a:t>
            </a:r>
            <a:r>
              <a:rPr lang="en-US" sz="4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внимание</a:t>
            </a:r>
            <a:endParaRPr lang="en-US" sz="4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200</TotalTime>
  <Words>719</Words>
  <Application>Microsoft Office PowerPoint</Application>
  <PresentationFormat>Произвольный</PresentationFormat>
  <Paragraphs>92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Times New Roman</vt:lpstr>
      <vt:lpstr>Franklin Gothic Book</vt:lpstr>
      <vt:lpstr>Algerian</vt:lpstr>
      <vt:lpstr>Book Antiqua</vt:lpstr>
      <vt:lpstr>Arial</vt:lpstr>
      <vt:lpstr>Tekton Pro Ext</vt:lpstr>
      <vt:lpstr>Calibri</vt:lpstr>
      <vt:lpstr>Уголки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Realizaciya-i-analiz-hesh-tablic-s-cepochkami.pptx</dc:title>
  <dc:creator>saiko</dc:creator>
  <cp:lastModifiedBy>ateterya08@gmail.com</cp:lastModifiedBy>
  <cp:revision>14</cp:revision>
  <dcterms:created xsi:type="dcterms:W3CDTF">2006-08-16T00:00:00Z</dcterms:created>
  <dcterms:modified xsi:type="dcterms:W3CDTF">2026-10-20T09:37:57Z</dcterms:modified>
  <dc:identifier>DAHONZgRjfM</dc:identifier>
</cp:coreProperties>
</file>